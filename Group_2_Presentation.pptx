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4"/>
  </p:notesMasterIdLst>
  <p:handoutMasterIdLst>
    <p:handoutMasterId r:id="rId25"/>
  </p:handoutMasterIdLst>
  <p:sldIdLst>
    <p:sldId id="312" r:id="rId5"/>
    <p:sldId id="304" r:id="rId6"/>
    <p:sldId id="307" r:id="rId7"/>
    <p:sldId id="281" r:id="rId8"/>
    <p:sldId id="282" r:id="rId9"/>
    <p:sldId id="314" r:id="rId10"/>
    <p:sldId id="323" r:id="rId11"/>
    <p:sldId id="324" r:id="rId12"/>
    <p:sldId id="325" r:id="rId13"/>
    <p:sldId id="326" r:id="rId14"/>
    <p:sldId id="327" r:id="rId15"/>
    <p:sldId id="328" r:id="rId16"/>
    <p:sldId id="329" r:id="rId17"/>
    <p:sldId id="330" r:id="rId18"/>
    <p:sldId id="331" r:id="rId19"/>
    <p:sldId id="332" r:id="rId20"/>
    <p:sldId id="333" r:id="rId21"/>
    <p:sldId id="297" r:id="rId22"/>
    <p:sldId id="334" r:id="rId2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81" d="100"/>
          <a:sy n="81" d="100"/>
        </p:scale>
        <p:origin x="754" y="6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Count</c:v>
                </c:pt>
              </c:strCache>
            </c:strRef>
          </c:tx>
          <c:dPt>
            <c:idx val="0"/>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3947-489E-9E53-75AF05E94E15}"/>
              </c:ext>
            </c:extLst>
          </c:dPt>
          <c:dPt>
            <c:idx val="1"/>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3947-489E-9E53-75AF05E94E15}"/>
              </c:ext>
            </c:extLst>
          </c:dPt>
          <c:dPt>
            <c:idx val="2"/>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3947-489E-9E53-75AF05E94E15}"/>
              </c:ext>
            </c:extLst>
          </c:dPt>
          <c:dPt>
            <c:idx val="3"/>
            <c:bubble3D val="0"/>
            <c:spPr>
              <a:solidFill>
                <a:schemeClr val="accent2">
                  <a:lumMod val="6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3947-489E-9E53-75AF05E94E15}"/>
              </c:ext>
            </c:extLst>
          </c:dPt>
          <c:dPt>
            <c:idx val="4"/>
            <c:bubble3D val="0"/>
            <c:spPr>
              <a:solidFill>
                <a:schemeClr val="accent4">
                  <a:lumMod val="6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9-3947-489E-9E53-75AF05E94E15}"/>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Critical</c:v>
                </c:pt>
                <c:pt idx="1">
                  <c:v>High</c:v>
                </c:pt>
                <c:pt idx="2">
                  <c:v>Medium</c:v>
                </c:pt>
                <c:pt idx="3">
                  <c:v>Low</c:v>
                </c:pt>
                <c:pt idx="4">
                  <c:v>Info</c:v>
                </c:pt>
              </c:strCache>
            </c:strRef>
          </c:cat>
          <c:val>
            <c:numRef>
              <c:f>Sheet1!$B$2:$B$6</c:f>
              <c:numCache>
                <c:formatCode>General</c:formatCode>
                <c:ptCount val="5"/>
                <c:pt idx="0">
                  <c:v>2</c:v>
                </c:pt>
                <c:pt idx="1">
                  <c:v>4</c:v>
                </c:pt>
                <c:pt idx="2">
                  <c:v>3</c:v>
                </c:pt>
                <c:pt idx="3">
                  <c:v>1</c:v>
                </c:pt>
                <c:pt idx="4">
                  <c:v>1</c:v>
                </c:pt>
              </c:numCache>
            </c:numRef>
          </c:val>
          <c:extLst>
            <c:ext xmlns:c16="http://schemas.microsoft.com/office/drawing/2014/chart" uri="{C3380CC4-5D6E-409C-BE32-E72D297353CC}">
              <c16:uniqueId val="{00000000-4AD2-4557-9659-2D4634C58AF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BDA23-95B5-60AC-D477-BDB6886BC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4A8D4-1826-80D0-3100-8C6024EE031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71EA03B-40FD-DC97-5A4B-5D4A6E9D366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280497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200A7-945A-8FC5-DE4C-E83538151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414C2-3810-7EAF-5449-E3855DEF1A5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DA7A1AD-ED90-A58C-67C8-1CD3371112F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79116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F5F7D-10B0-64BA-4C8D-C4B816D3E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86A1D-E082-074F-1DA2-F78975AE452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874D4E2-EB1D-CCCD-86C2-8AEDA13D63E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0130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5CD81-D7FF-E0C1-D088-CB265D843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8F214-7088-0E54-3F53-8186CF278E9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B757505-EA9C-4353-EC10-89906BFB17B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09169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EEEF-C41A-1E1F-6253-4F4210329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1606A-EB0A-BB42-D9D6-07ADA9B4C1D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6684E0D-B309-1528-060B-170B6116639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65892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DAC4B-BCE8-A1F5-5A4C-4C579E69D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13049-CAF8-7D09-1586-89ACB795E08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578840F-EB1E-4ED1-38B5-19C78FF25CC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105767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2119A-ECAF-7235-92BC-64018AEDD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75D66-8268-24B3-9CDF-C3B75C3F5A2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AF21E76-4A62-4F05-725C-07F8BF86542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64257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1C0C7-6124-AE72-76A4-628858545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64CED-5CFD-0EF8-286C-C972B4C4B08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9748624-49F6-8536-920E-7AF1F5C1FE8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933936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AA12D-0170-04CC-AA48-E3CA46BD0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DA76A-E1B8-8DCF-700C-CD3AE766B65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B78481D-9EEF-8734-1A13-076B3798BA1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76836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DEBA9-BE69-91F1-C3D3-CE8EDD2CA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5255F-47A1-60FF-E674-FACC785B83D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8702115-A706-8FB5-2F5E-937805C8D0A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997094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E4B6A-CF50-5509-3F77-B6201C424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9BD7C-97CD-1944-D029-9D9139017B7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45495D5-9502-898A-2999-7E48DD7688F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52222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54C77-B202-A349-82A7-32768B430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A6C65-DC3B-2207-91EA-C800B524D02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5810F16-13E8-C267-8AA7-EAEF4EA78D0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38962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demo.testfire.net/"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211387"/>
            <a:ext cx="6392421" cy="1197682"/>
          </a:xfrm>
        </p:spPr>
        <p:txBody>
          <a:bodyPr anchor="ctr"/>
          <a:lstStyle/>
          <a:p>
            <a:r>
              <a:rPr lang="en-US" dirty="0"/>
              <a:t>GROUP 2 VAPT </a:t>
            </a:r>
            <a:br>
              <a:rPr lang="en-US" dirty="0"/>
            </a:br>
            <a:r>
              <a:rPr lang="en-US" dirty="0"/>
              <a:t>REPORT</a:t>
            </a:r>
          </a:p>
        </p:txBody>
      </p:sp>
      <p:sp>
        <p:nvSpPr>
          <p:cNvPr id="3" name="Title 1">
            <a:extLst>
              <a:ext uri="{FF2B5EF4-FFF2-40B4-BE49-F238E27FC236}">
                <a16:creationId xmlns:a16="http://schemas.microsoft.com/office/drawing/2014/main" id="{37B22162-54FD-71BE-1842-4401982F75AF}"/>
              </a:ext>
            </a:extLst>
          </p:cNvPr>
          <p:cNvSpPr txBox="1">
            <a:spLocks/>
          </p:cNvSpPr>
          <p:nvPr/>
        </p:nvSpPr>
        <p:spPr>
          <a:xfrm>
            <a:off x="2899790" y="2052257"/>
            <a:ext cx="6392421" cy="2463230"/>
          </a:xfrm>
          <a:prstGeom prst="rect">
            <a:avLst/>
          </a:prstGeom>
        </p:spPr>
        <p:txBody>
          <a:bodyPr vert="horz" lIns="91440" tIns="0" rIns="91440" bIns="0" rtlCol="0" anchor="ctr" anchorCtr="0">
            <a:noAutofit/>
          </a:bodyPr>
          <a:lstStyle>
            <a:lvl1pPr algn="ctr"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r>
              <a:rPr lang="en-US" sz="1800" dirty="0"/>
              <a:t>Presented by:</a:t>
            </a:r>
          </a:p>
          <a:p>
            <a:endParaRPr lang="en-US" sz="1800" dirty="0"/>
          </a:p>
          <a:p>
            <a:r>
              <a:rPr lang="en-US" sz="1800" dirty="0"/>
              <a:t>Asharafraza Desai</a:t>
            </a:r>
          </a:p>
        </p:txBody>
      </p:sp>
      <p:sp>
        <p:nvSpPr>
          <p:cNvPr id="4" name="TextBox 3">
            <a:extLst>
              <a:ext uri="{FF2B5EF4-FFF2-40B4-BE49-F238E27FC236}">
                <a16:creationId xmlns:a16="http://schemas.microsoft.com/office/drawing/2014/main" id="{4E22C8E6-8528-8EAB-28C2-13E16C406183}"/>
              </a:ext>
            </a:extLst>
          </p:cNvPr>
          <p:cNvSpPr txBox="1"/>
          <p:nvPr/>
        </p:nvSpPr>
        <p:spPr>
          <a:xfrm>
            <a:off x="3819426" y="1545997"/>
            <a:ext cx="4553146" cy="369332"/>
          </a:xfrm>
          <a:prstGeom prst="rect">
            <a:avLst/>
          </a:prstGeom>
          <a:noFill/>
        </p:spPr>
        <p:txBody>
          <a:bodyPr wrap="square" rtlCol="0">
            <a:spAutoFit/>
          </a:bodyPr>
          <a:lstStyle/>
          <a:p>
            <a:pPr algn="ctr"/>
            <a:r>
              <a:rPr lang="en-US" dirty="0"/>
              <a:t>Target : demo.testfire.net</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r>
              <a:rPr lang="en-US" dirty="0"/>
              <a:t>Purpose of Assessment</a:t>
            </a:r>
          </a:p>
          <a:p>
            <a:r>
              <a:rPr lang="en-US" dirty="0"/>
              <a:t>Scope of Work</a:t>
            </a:r>
          </a:p>
          <a:p>
            <a:r>
              <a:rPr lang="en-US" dirty="0"/>
              <a:t>Limitations &amp; Assumptions</a:t>
            </a:r>
          </a:p>
          <a:p>
            <a:r>
              <a:rPr lang="en-US" dirty="0"/>
              <a:t>Finding &amp; Vulnerabilities</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034188" y="425115"/>
            <a:ext cx="5623286" cy="753979"/>
          </a:xfrm>
        </p:spPr>
        <p:txBody>
          <a:bodyPr/>
          <a:lstStyle/>
          <a:p>
            <a:r>
              <a:rPr lang="en-US" sz="2800" dirty="0"/>
              <a:t>Purpose of assessment</a:t>
            </a:r>
          </a:p>
        </p:txBody>
      </p:sp>
      <p:sp>
        <p:nvSpPr>
          <p:cNvPr id="5" name="TextBox 4">
            <a:extLst>
              <a:ext uri="{FF2B5EF4-FFF2-40B4-BE49-F238E27FC236}">
                <a16:creationId xmlns:a16="http://schemas.microsoft.com/office/drawing/2014/main" id="{CD32BD36-880A-1961-51B1-0FEC1DA2A034}"/>
              </a:ext>
            </a:extLst>
          </p:cNvPr>
          <p:cNvSpPr txBox="1"/>
          <p:nvPr/>
        </p:nvSpPr>
        <p:spPr>
          <a:xfrm>
            <a:off x="1034188" y="1200872"/>
            <a:ext cx="8462738" cy="1754326"/>
          </a:xfrm>
          <a:prstGeom prst="rect">
            <a:avLst/>
          </a:prstGeom>
          <a:noFill/>
        </p:spPr>
        <p:txBody>
          <a:bodyPr wrap="square" rtlCol="0">
            <a:spAutoFit/>
          </a:bodyPr>
          <a:lstStyle/>
          <a:p>
            <a:r>
              <a:rPr lang="en-US" dirty="0"/>
              <a:t>This security assessment was conducted to identify critical vulnerabilities in the </a:t>
            </a:r>
            <a:r>
              <a:rPr lang="en-US" b="1" dirty="0"/>
              <a:t>Altoro Mutual online banking application (demo.testfire.net) </a:t>
            </a:r>
            <a:r>
              <a:rPr lang="en-US" dirty="0"/>
              <a:t>that could lead to unauthorized access to customer accounts, financial data exposure, or system compromise. The engagement simulated real-world attack scenarios to evaluate the application's security controls and provide actionable recommendations for risk mitigation</a:t>
            </a:r>
          </a:p>
        </p:txBody>
      </p:sp>
      <p:sp>
        <p:nvSpPr>
          <p:cNvPr id="9" name="Title 1">
            <a:extLst>
              <a:ext uri="{FF2B5EF4-FFF2-40B4-BE49-F238E27FC236}">
                <a16:creationId xmlns:a16="http://schemas.microsoft.com/office/drawing/2014/main" id="{ECE241BB-BC41-1F4B-F028-ECB32B3FA33A}"/>
              </a:ext>
            </a:extLst>
          </p:cNvPr>
          <p:cNvSpPr txBox="1">
            <a:spLocks/>
          </p:cNvSpPr>
          <p:nvPr/>
        </p:nvSpPr>
        <p:spPr>
          <a:xfrm>
            <a:off x="1061997" y="3052010"/>
            <a:ext cx="7279897" cy="753979"/>
          </a:xfrm>
          <a:prstGeom prst="rect">
            <a:avLst/>
          </a:prstGeom>
        </p:spPr>
        <p:txBody>
          <a:bodyPr vert="horz" lIns="91440" tIns="0" rIns="91440" bIns="0" rtlCol="0" anchor="ctr"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r>
              <a:rPr lang="en-US" sz="2800" dirty="0"/>
              <a:t>OBJECTIVE of assessment</a:t>
            </a:r>
          </a:p>
        </p:txBody>
      </p:sp>
      <p:sp>
        <p:nvSpPr>
          <p:cNvPr id="10" name="TextBox 9">
            <a:extLst>
              <a:ext uri="{FF2B5EF4-FFF2-40B4-BE49-F238E27FC236}">
                <a16:creationId xmlns:a16="http://schemas.microsoft.com/office/drawing/2014/main" id="{1C842929-9DD9-0F1E-5AC5-0B4AFFE5EBC9}"/>
              </a:ext>
            </a:extLst>
          </p:cNvPr>
          <p:cNvSpPr txBox="1"/>
          <p:nvPr/>
        </p:nvSpPr>
        <p:spPr>
          <a:xfrm>
            <a:off x="1061997" y="3805989"/>
            <a:ext cx="8462738" cy="1200329"/>
          </a:xfrm>
          <a:prstGeom prst="rect">
            <a:avLst/>
          </a:prstGeom>
          <a:noFill/>
        </p:spPr>
        <p:txBody>
          <a:bodyPr wrap="square" rtlCol="0">
            <a:spAutoFit/>
          </a:bodyPr>
          <a:lstStyle/>
          <a:p>
            <a:r>
              <a:rPr lang="en-US" dirty="0"/>
              <a:t>• Identify security vulnerabilities in online banking platform</a:t>
            </a:r>
          </a:p>
          <a:p>
            <a:r>
              <a:rPr lang="en-US" dirty="0"/>
              <a:t>• Assess risks to customer data and financial assets </a:t>
            </a:r>
          </a:p>
          <a:p>
            <a:r>
              <a:rPr lang="en-US" dirty="0"/>
              <a:t>• Evaluate effectiveness of existing security controls </a:t>
            </a:r>
          </a:p>
          <a:p>
            <a:r>
              <a:rPr lang="en-US" dirty="0"/>
              <a:t>• Provide actionable remediation roadmap</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ontent Placeholder 17">
            <a:extLst>
              <a:ext uri="{FF2B5EF4-FFF2-40B4-BE49-F238E27FC236}">
                <a16:creationId xmlns:a16="http://schemas.microsoft.com/office/drawing/2014/main" id="{1879DBCE-81F8-0BE0-817B-C62C6BA0BCE2}"/>
              </a:ext>
            </a:extLst>
          </p:cNvPr>
          <p:cNvGraphicFramePr>
            <a:graphicFrameLocks noGrp="1"/>
          </p:cNvGraphicFramePr>
          <p:nvPr>
            <p:ph idx="1"/>
            <p:extLst>
              <p:ext uri="{D42A27DB-BD31-4B8C-83A1-F6EECF244321}">
                <p14:modId xmlns:p14="http://schemas.microsoft.com/office/powerpoint/2010/main" val="460846449"/>
              </p:ext>
            </p:extLst>
          </p:nvPr>
        </p:nvGraphicFramePr>
        <p:xfrm>
          <a:off x="1876926" y="1104232"/>
          <a:ext cx="7988969" cy="46495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4" y="872341"/>
            <a:ext cx="7965461" cy="471489"/>
          </a:xfrm>
        </p:spPr>
        <p:txBody>
          <a:bodyPr/>
          <a:lstStyle/>
          <a:p>
            <a:r>
              <a:rPr lang="en-US" sz="2400" dirty="0"/>
              <a:t>Scope of WORK</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4" y="1680151"/>
            <a:ext cx="7965460" cy="3497698"/>
          </a:xfrm>
        </p:spPr>
        <p:txBody>
          <a:bodyPr/>
          <a:lstStyle/>
          <a:p>
            <a:r>
              <a:rPr lang="en-US" dirty="0"/>
              <a:t>Target URL: </a:t>
            </a:r>
            <a:r>
              <a:rPr lang="en-US" dirty="0">
                <a:hlinkClick r:id="rId3"/>
              </a:rPr>
              <a:t>https://demo.testfire.net</a:t>
            </a:r>
            <a:endParaRPr lang="en-US" dirty="0"/>
          </a:p>
          <a:p>
            <a:r>
              <a:rPr lang="en-US" dirty="0"/>
              <a:t>Testing Type: Black Box Testing </a:t>
            </a:r>
          </a:p>
          <a:p>
            <a:r>
              <a:rPr lang="en-US" dirty="0"/>
              <a:t>Testing Methodology: OWASP Web Application Penetration Testing Guidelines </a:t>
            </a:r>
          </a:p>
          <a:p>
            <a:r>
              <a:rPr lang="en-US" dirty="0"/>
              <a:t>Testing Environment: Production Environment </a:t>
            </a:r>
          </a:p>
          <a:p>
            <a:r>
              <a:rPr lang="en-US" dirty="0"/>
              <a:t>Tools Used: </a:t>
            </a:r>
          </a:p>
          <a:p>
            <a:pPr marL="0" indent="0">
              <a:buNone/>
            </a:pPr>
            <a:r>
              <a:rPr lang="en-US" dirty="0"/>
              <a:t>       • Burp Suite </a:t>
            </a:r>
          </a:p>
          <a:p>
            <a:pPr marL="0" indent="0">
              <a:buNone/>
            </a:pPr>
            <a:r>
              <a:rPr lang="en-US" dirty="0"/>
              <a:t>       • Nmap</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771251" y="117835"/>
            <a:ext cx="7043617" cy="471489"/>
          </a:xfrm>
        </p:spPr>
        <p:txBody>
          <a:bodyPr/>
          <a:lstStyle/>
          <a:p>
            <a:r>
              <a:rPr lang="en-US" sz="2600" dirty="0"/>
              <a:t>Findings &amp; Vulnerabilities</a:t>
            </a:r>
          </a:p>
        </p:txBody>
      </p:sp>
      <p:sp>
        <p:nvSpPr>
          <p:cNvPr id="6" name="Content Placeholder 5">
            <a:extLst>
              <a:ext uri="{FF2B5EF4-FFF2-40B4-BE49-F238E27FC236}">
                <a16:creationId xmlns:a16="http://schemas.microsoft.com/office/drawing/2014/main" id="{CF3C194B-1597-2FA0-E0D2-683575331249}"/>
              </a:ext>
            </a:extLst>
          </p:cNvPr>
          <p:cNvSpPr>
            <a:spLocks noGrp="1"/>
          </p:cNvSpPr>
          <p:nvPr>
            <p:ph idx="11"/>
          </p:nvPr>
        </p:nvSpPr>
        <p:spPr>
          <a:xfrm>
            <a:off x="3667027" y="721300"/>
            <a:ext cx="8399282" cy="6018866"/>
          </a:xfrm>
        </p:spPr>
        <p:txBody>
          <a:bodyPr>
            <a:noAutofit/>
          </a:bodyPr>
          <a:lstStyle/>
          <a:p>
            <a:r>
              <a:rPr lang="en-US" sz="1400" dirty="0"/>
              <a:t> 1. </a:t>
            </a:r>
            <a:r>
              <a:rPr lang="en-US" sz="1400" b="1" dirty="0"/>
              <a:t>SQL Injection</a:t>
            </a:r>
            <a:r>
              <a:rPr lang="en-US" sz="1400" dirty="0"/>
              <a:t> </a:t>
            </a:r>
          </a:p>
          <a:p>
            <a:endParaRPr lang="en-US" sz="1400" dirty="0"/>
          </a:p>
          <a:p>
            <a:r>
              <a:rPr lang="en-US" sz="1400" dirty="0"/>
              <a:t> What is SQL Injection ?</a:t>
            </a:r>
          </a:p>
          <a:p>
            <a:r>
              <a:rPr lang="en-US" sz="1400" dirty="0"/>
              <a:t>       </a:t>
            </a:r>
          </a:p>
          <a:p>
            <a:r>
              <a:rPr lang="en-US" sz="1400" dirty="0"/>
              <a:t> SQL Injection is a </a:t>
            </a:r>
            <a:r>
              <a:rPr lang="en-US" sz="1400" b="1" dirty="0"/>
              <a:t>web security vulnerability</a:t>
            </a:r>
            <a:r>
              <a:rPr lang="en-US" sz="1400" dirty="0"/>
              <a:t> where an attacker inserts malicious SQL code into input fields (like login forms or search boxes).</a:t>
            </a:r>
            <a:br>
              <a:rPr lang="en-US" sz="1400" dirty="0"/>
            </a:br>
            <a:r>
              <a:rPr lang="en-US" sz="1400" dirty="0"/>
              <a:t>If the website does not properly validate or sanitize the input, the attacker’s SQL code gets executed by the database.</a:t>
            </a:r>
          </a:p>
          <a:p>
            <a:r>
              <a:rPr lang="en-US" sz="1400" dirty="0"/>
              <a:t>This allows attackers to:</a:t>
            </a:r>
          </a:p>
          <a:p>
            <a:r>
              <a:rPr lang="en-US" sz="1400" dirty="0"/>
              <a:t>1. Bypass logins</a:t>
            </a:r>
          </a:p>
          <a:p>
            <a:r>
              <a:rPr lang="en-US" sz="1400" dirty="0"/>
              <a:t>2. Read sensitive data</a:t>
            </a:r>
          </a:p>
          <a:p>
            <a:endParaRPr lang="en-US" sz="1400" dirty="0"/>
          </a:p>
          <a:p>
            <a:r>
              <a:rPr lang="en-US" sz="1400" b="1" dirty="0"/>
              <a:t>What ' OR '1'='1' – Means</a:t>
            </a:r>
          </a:p>
          <a:p>
            <a:endParaRPr lang="en-US" sz="1400" dirty="0"/>
          </a:p>
          <a:p>
            <a:r>
              <a:rPr lang="en-US" sz="1400" dirty="0"/>
              <a:t>This is a </a:t>
            </a:r>
            <a:r>
              <a:rPr lang="en-US" sz="1400" b="1" dirty="0"/>
              <a:t>classic SQL Injection payload</a:t>
            </a:r>
            <a:r>
              <a:rPr lang="en-US" sz="1400" dirty="0"/>
              <a:t> used to bypass login authentication.</a:t>
            </a:r>
          </a:p>
          <a:p>
            <a:r>
              <a:rPr lang="en-US" sz="1400" dirty="0"/>
              <a:t>Normal Query:</a:t>
            </a:r>
          </a:p>
          <a:p>
            <a:endParaRPr lang="en-US" sz="1400" dirty="0"/>
          </a:p>
          <a:p>
            <a:r>
              <a:rPr lang="en-US" sz="1400" dirty="0"/>
              <a:t>SELECT * FROM users WHERE username = 'input' AND password = 'input’;</a:t>
            </a:r>
          </a:p>
          <a:p>
            <a:endParaRPr lang="en-US" sz="1400" dirty="0"/>
          </a:p>
          <a:p>
            <a:r>
              <a:rPr lang="en-US" sz="1400" dirty="0"/>
              <a:t>Malicious Query:</a:t>
            </a:r>
          </a:p>
          <a:p>
            <a:endParaRPr lang="en-US" sz="1400" dirty="0"/>
          </a:p>
          <a:p>
            <a:r>
              <a:rPr lang="en-US" sz="1400" dirty="0"/>
              <a:t>SELECT * FROM users WHERE username = '' OR '1'='1' -- ' AND password=‘’;</a:t>
            </a:r>
          </a:p>
          <a:p>
            <a:endParaRPr lang="en-US" sz="1400" dirty="0"/>
          </a:p>
          <a:p>
            <a:pPr marL="285750" indent="-285750">
              <a:buFont typeface="Arial" panose="020B0604020202020204" pitchFamily="34" charset="0"/>
              <a:buChar char="•"/>
            </a:pPr>
            <a:r>
              <a:rPr lang="en-US" sz="1400" dirty="0"/>
              <a:t>‘1’=‘1’ is always true</a:t>
            </a:r>
          </a:p>
          <a:p>
            <a:pPr marL="285750" indent="-285750">
              <a:buFont typeface="Arial" panose="020B0604020202020204" pitchFamily="34" charset="0"/>
              <a:buChar char="•"/>
            </a:pPr>
            <a:r>
              <a:rPr lang="en-US" sz="1400" dirty="0"/>
              <a:t>- - comments out the rest of the query</a:t>
            </a:r>
          </a:p>
          <a:p>
            <a:pPr marL="285750" indent="-285750">
              <a:buFont typeface="Arial" panose="020B0604020202020204" pitchFamily="34" charset="0"/>
              <a:buChar char="•"/>
            </a:pPr>
            <a:r>
              <a:rPr lang="en-US" sz="1400" dirty="0"/>
              <a:t>Database returns </a:t>
            </a:r>
            <a:r>
              <a:rPr lang="en-US" sz="1400" b="1" dirty="0"/>
              <a:t>all users</a:t>
            </a:r>
            <a:r>
              <a:rPr lang="en-US" sz="1400" dirty="0"/>
              <a:t>, so login bypass is successful</a:t>
            </a:r>
          </a:p>
          <a:p>
            <a:pPr marL="285750" indent="-285750">
              <a:buFont typeface="Arial" panose="020B0604020202020204" pitchFamily="34" charset="0"/>
              <a:buChar char="•"/>
            </a:pPr>
            <a:endParaRPr lang="en-US" sz="1400" dirty="0"/>
          </a:p>
          <a:p>
            <a:r>
              <a:rPr lang="en-US" sz="1400" dirty="0"/>
              <a:t>Demo : https://www.awesomescreenshot.com/video/46683467?key=9678d9427f88131cd1328d4136a9b69a</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DD5F2-1D23-FC6B-BC6C-2BB6AAE4F56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E059DAE-595F-9E88-B0FA-7F6916F925DA}"/>
              </a:ext>
            </a:extLst>
          </p:cNvPr>
          <p:cNvSpPr>
            <a:spLocks noGrp="1"/>
          </p:cNvSpPr>
          <p:nvPr>
            <p:ph idx="11"/>
          </p:nvPr>
        </p:nvSpPr>
        <p:spPr>
          <a:xfrm>
            <a:off x="3667027" y="259385"/>
            <a:ext cx="8399282" cy="5811477"/>
          </a:xfrm>
        </p:spPr>
        <p:txBody>
          <a:bodyPr>
            <a:noAutofit/>
          </a:bodyPr>
          <a:lstStyle/>
          <a:p>
            <a:r>
              <a:rPr lang="en-US" sz="1400" dirty="0"/>
              <a:t>2. Authentication Bypass</a:t>
            </a:r>
          </a:p>
          <a:p>
            <a:endParaRPr lang="en-US" sz="1400" dirty="0"/>
          </a:p>
          <a:p>
            <a:r>
              <a:rPr lang="en-US" sz="1400" dirty="0"/>
              <a:t>Authentication Bypass is a security weakness where an attacker can </a:t>
            </a:r>
            <a:r>
              <a:rPr lang="en-US" sz="1400" b="1" dirty="0"/>
              <a:t>log into an application without providing valid or correct credentials</a:t>
            </a:r>
            <a:r>
              <a:rPr lang="en-US" sz="1400" dirty="0"/>
              <a:t>.</a:t>
            </a:r>
            <a:br>
              <a:rPr lang="en-US" sz="1400" dirty="0"/>
            </a:br>
            <a:r>
              <a:rPr lang="en-US" sz="1400" dirty="0"/>
              <a:t>This happens when the login system is poorly implemented and accepts weak, default, or predictable usernames and passwords.</a:t>
            </a:r>
          </a:p>
          <a:p>
            <a:endParaRPr lang="en-US" sz="1400" dirty="0"/>
          </a:p>
          <a:p>
            <a:r>
              <a:rPr lang="en-US" sz="1400" dirty="0"/>
              <a:t>We logged in using:</a:t>
            </a:r>
          </a:p>
          <a:p>
            <a:endParaRPr lang="en-US" sz="1400" dirty="0"/>
          </a:p>
          <a:p>
            <a:r>
              <a:rPr lang="en-US" sz="1400" b="1" dirty="0"/>
              <a:t>Username:</a:t>
            </a:r>
            <a:r>
              <a:rPr lang="en-US" sz="1400" dirty="0"/>
              <a:t> Admin</a:t>
            </a:r>
          </a:p>
          <a:p>
            <a:r>
              <a:rPr lang="en-US" sz="1400" b="1" dirty="0"/>
              <a:t>Password:</a:t>
            </a:r>
            <a:r>
              <a:rPr lang="en-US" sz="1400" dirty="0"/>
              <a:t> Admin</a:t>
            </a:r>
          </a:p>
          <a:p>
            <a:endParaRPr lang="en-US" sz="1400" dirty="0"/>
          </a:p>
          <a:p>
            <a:r>
              <a:rPr lang="en-US" sz="1400" dirty="0"/>
              <a:t>This is a classic example of </a:t>
            </a:r>
            <a:r>
              <a:rPr lang="en-US" sz="1400" b="1" dirty="0"/>
              <a:t>weak/default credentials</a:t>
            </a:r>
            <a:r>
              <a:rPr lang="en-US" sz="1400" dirty="0"/>
              <a:t>, meaning:</a:t>
            </a:r>
          </a:p>
          <a:p>
            <a:endParaRPr lang="en-US" sz="1400" dirty="0"/>
          </a:p>
          <a:p>
            <a:r>
              <a:rPr lang="en-US" sz="1400" dirty="0"/>
              <a:t>✔ The application is using </a:t>
            </a:r>
            <a:r>
              <a:rPr lang="en-US" sz="1400" b="1" dirty="0"/>
              <a:t>default login values</a:t>
            </a:r>
            <a:br>
              <a:rPr lang="en-US" sz="1400" dirty="0"/>
            </a:br>
            <a:r>
              <a:rPr lang="en-US" sz="1400" dirty="0"/>
              <a:t>✔ There is </a:t>
            </a:r>
            <a:r>
              <a:rPr lang="en-US" sz="1400" b="1" dirty="0"/>
              <a:t>no account lockout</a:t>
            </a:r>
            <a:r>
              <a:rPr lang="en-US" sz="1400" dirty="0"/>
              <a:t>, captcha, or restriction</a:t>
            </a:r>
            <a:br>
              <a:rPr lang="en-US" sz="1400" dirty="0"/>
            </a:br>
            <a:r>
              <a:rPr lang="en-US" sz="1400" dirty="0"/>
              <a:t>✔ No strong password enforcement</a:t>
            </a:r>
            <a:br>
              <a:rPr lang="en-US" sz="1400" dirty="0"/>
            </a:br>
            <a:r>
              <a:rPr lang="en-US" sz="1400" dirty="0"/>
              <a:t>✔ No brute-force protection</a:t>
            </a:r>
            <a:br>
              <a:rPr lang="en-US" sz="1400" dirty="0"/>
            </a:br>
            <a:r>
              <a:rPr lang="en-US" sz="1400" dirty="0"/>
              <a:t>✔ Admin account is not secured properly</a:t>
            </a:r>
          </a:p>
          <a:p>
            <a:endParaRPr lang="en-US" sz="1400" dirty="0"/>
          </a:p>
          <a:p>
            <a:r>
              <a:rPr lang="en-US" sz="1400" dirty="0"/>
              <a:t>Because of these failures, </a:t>
            </a:r>
            <a:r>
              <a:rPr lang="en-US" sz="1400" b="1" dirty="0"/>
              <a:t>anyone</a:t>
            </a:r>
            <a:r>
              <a:rPr lang="en-US" sz="1400" dirty="0"/>
              <a:t> can guess these credentials and gain access to sensitive features.</a:t>
            </a:r>
          </a:p>
          <a:p>
            <a:endParaRPr lang="en-US" sz="1400" dirty="0"/>
          </a:p>
          <a:p>
            <a:r>
              <a:rPr lang="en-US" sz="1400" dirty="0"/>
              <a:t>Demo : https://www.awesomescreenshot.com/video/46683630?key=907390486adfbb326e20289a06ce88fe</a:t>
            </a:r>
          </a:p>
        </p:txBody>
      </p:sp>
    </p:spTree>
    <p:extLst>
      <p:ext uri="{BB962C8B-B14F-4D97-AF65-F5344CB8AC3E}">
        <p14:creationId xmlns:p14="http://schemas.microsoft.com/office/powerpoint/2010/main" val="3935114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46A49-3424-8122-0CC0-7EB535F3921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8243568-9544-7DE0-EFF7-6DEEE3FB69E6}"/>
              </a:ext>
            </a:extLst>
          </p:cNvPr>
          <p:cNvSpPr>
            <a:spLocks noGrp="1"/>
          </p:cNvSpPr>
          <p:nvPr>
            <p:ph idx="11"/>
          </p:nvPr>
        </p:nvSpPr>
        <p:spPr>
          <a:xfrm>
            <a:off x="3667027" y="259385"/>
            <a:ext cx="8399282" cy="6480780"/>
          </a:xfrm>
        </p:spPr>
        <p:txBody>
          <a:bodyPr>
            <a:noAutofit/>
          </a:bodyPr>
          <a:lstStyle/>
          <a:p>
            <a:r>
              <a:rPr lang="en-US" sz="1400" dirty="0"/>
              <a:t>3.</a:t>
            </a:r>
            <a:r>
              <a:rPr lang="en-US" sz="1400" b="1" dirty="0"/>
              <a:t>HTTP Request Smuggling</a:t>
            </a:r>
          </a:p>
          <a:p>
            <a:endParaRPr lang="en-US" sz="1400" dirty="0"/>
          </a:p>
          <a:p>
            <a:r>
              <a:rPr lang="en-US" sz="1400" dirty="0"/>
              <a:t>HTTP Request Smuggling is a vulnerability where an attacker sends </a:t>
            </a:r>
            <a:r>
              <a:rPr lang="en-US" sz="1400" b="1" dirty="0"/>
              <a:t>specially crafted HTTP requests</a:t>
            </a:r>
            <a:r>
              <a:rPr lang="en-US" sz="1400" dirty="0"/>
              <a:t> that confuse the way front-end and back-end servers process request boundaries.</a:t>
            </a:r>
          </a:p>
          <a:p>
            <a:endParaRPr lang="en-US" sz="1400" dirty="0"/>
          </a:p>
          <a:p>
            <a:r>
              <a:rPr lang="en-US" sz="1400" dirty="0"/>
              <a:t>In simple words:</a:t>
            </a:r>
          </a:p>
          <a:p>
            <a:endParaRPr lang="en-US" sz="1400" dirty="0"/>
          </a:p>
          <a:p>
            <a:r>
              <a:rPr lang="en-US" sz="1400" dirty="0"/>
              <a:t>👉 The front-end server (load balancer / proxy)</a:t>
            </a:r>
            <a:br>
              <a:rPr lang="en-US" sz="1400" dirty="0"/>
            </a:br>
            <a:r>
              <a:rPr lang="en-US" sz="1400" dirty="0"/>
              <a:t>👉 The back-end server (actual web server)</a:t>
            </a:r>
          </a:p>
          <a:p>
            <a:endParaRPr lang="en-US" sz="1400" b="1" dirty="0"/>
          </a:p>
          <a:p>
            <a:r>
              <a:rPr lang="en-US" sz="1400" b="1" dirty="0"/>
              <a:t>Interpret the same request differently</a:t>
            </a:r>
            <a:r>
              <a:rPr lang="en-US" sz="1400" dirty="0"/>
              <a:t>, allowing the attacker to “smuggle” a hidden request inside another one.</a:t>
            </a:r>
          </a:p>
          <a:p>
            <a:endParaRPr lang="en-US" sz="1400" dirty="0"/>
          </a:p>
          <a:p>
            <a:r>
              <a:rPr lang="en-US" sz="1400" b="1" dirty="0"/>
              <a:t>Why It Happens</a:t>
            </a:r>
          </a:p>
          <a:p>
            <a:r>
              <a:rPr lang="en-US" sz="1400" dirty="0"/>
              <a:t>It mainly occurs due to mismatched handling of these headers:</a:t>
            </a:r>
          </a:p>
          <a:p>
            <a:endParaRPr lang="en-US" sz="1400" dirty="0"/>
          </a:p>
          <a:p>
            <a:r>
              <a:rPr lang="en-US" sz="1400" b="1" dirty="0"/>
              <a:t>Content-Length (CL)</a:t>
            </a:r>
            <a:endParaRPr lang="en-US" sz="1400" dirty="0"/>
          </a:p>
          <a:p>
            <a:r>
              <a:rPr lang="en-US" sz="1400" b="1" dirty="0"/>
              <a:t>Transfer-Encoding (TE)</a:t>
            </a:r>
          </a:p>
          <a:p>
            <a:endParaRPr lang="en-US" sz="1400" dirty="0"/>
          </a:p>
          <a:p>
            <a:r>
              <a:rPr lang="en-US" sz="1400" dirty="0"/>
              <a:t>If one server trusts </a:t>
            </a:r>
            <a:r>
              <a:rPr lang="en-US" sz="1400" b="1" dirty="0"/>
              <a:t>Content-Length</a:t>
            </a:r>
            <a:r>
              <a:rPr lang="en-US" sz="1400" dirty="0"/>
              <a:t> and the other </a:t>
            </a:r>
            <a:r>
              <a:rPr lang="en-US" sz="1400" dirty="0" err="1"/>
              <a:t>trustsTransfer</a:t>
            </a:r>
            <a:r>
              <a:rPr lang="en-US" sz="1400" dirty="0"/>
              <a:t> Encoding, attackers can exploit the difference.</a:t>
            </a:r>
          </a:p>
          <a:p>
            <a:endParaRPr lang="en-US" sz="1400" dirty="0"/>
          </a:p>
          <a:p>
            <a:r>
              <a:rPr lang="en-US" sz="1400" b="1" dirty="0"/>
              <a:t>What Attackers Can Do</a:t>
            </a:r>
          </a:p>
          <a:p>
            <a:r>
              <a:rPr lang="en-US" sz="1400" dirty="0"/>
              <a:t>1. With HTTP Request Smuggling, attackers can:</a:t>
            </a:r>
          </a:p>
          <a:p>
            <a:r>
              <a:rPr lang="en-US" sz="1400" dirty="0"/>
              <a:t>2. Bypass security controls</a:t>
            </a:r>
          </a:p>
          <a:p>
            <a:r>
              <a:rPr lang="en-US" sz="1400" dirty="0"/>
              <a:t>3. Steal other users’ data</a:t>
            </a:r>
          </a:p>
          <a:p>
            <a:r>
              <a:rPr lang="en-US" sz="1400" dirty="0"/>
              <a:t>4. Hijack sessions</a:t>
            </a:r>
          </a:p>
          <a:p>
            <a:endParaRPr lang="en-US" sz="1400" dirty="0"/>
          </a:p>
          <a:p>
            <a:r>
              <a:rPr lang="en-US" sz="1400" dirty="0"/>
              <a:t>Demo : https://www.awesomescreenshot.com/video/46688300?key=3fa35cf71aef25a5730b42aa931c4e69</a:t>
            </a:r>
          </a:p>
        </p:txBody>
      </p:sp>
    </p:spTree>
    <p:extLst>
      <p:ext uri="{BB962C8B-B14F-4D97-AF65-F5344CB8AC3E}">
        <p14:creationId xmlns:p14="http://schemas.microsoft.com/office/powerpoint/2010/main" val="4035733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6FC48-5A17-85C1-FAD3-FAAF1437539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F39FC1B-23FC-87E4-78C7-CB030184C1DD}"/>
              </a:ext>
            </a:extLst>
          </p:cNvPr>
          <p:cNvSpPr>
            <a:spLocks noGrp="1"/>
          </p:cNvSpPr>
          <p:nvPr>
            <p:ph idx="11"/>
          </p:nvPr>
        </p:nvSpPr>
        <p:spPr>
          <a:xfrm>
            <a:off x="3667027" y="259385"/>
            <a:ext cx="8399282" cy="6480780"/>
          </a:xfrm>
        </p:spPr>
        <p:txBody>
          <a:bodyPr>
            <a:noAutofit/>
          </a:bodyPr>
          <a:lstStyle/>
          <a:p>
            <a:r>
              <a:rPr lang="en-US" sz="1400" dirty="0"/>
              <a:t>4. </a:t>
            </a:r>
            <a:r>
              <a:rPr lang="en-US" sz="1400" b="1" dirty="0"/>
              <a:t>No Rate Limit</a:t>
            </a:r>
          </a:p>
          <a:p>
            <a:endParaRPr lang="en-US" sz="1400" dirty="0"/>
          </a:p>
          <a:p>
            <a:r>
              <a:rPr lang="en-US" sz="1400" dirty="0"/>
              <a:t>No Rate Limit is a vulnerability where an application </a:t>
            </a:r>
            <a:r>
              <a:rPr lang="en-US" sz="1400" b="1" dirty="0"/>
              <a:t>allows unlimited requests without any restriction</a:t>
            </a:r>
            <a:r>
              <a:rPr lang="en-US" sz="1400" dirty="0"/>
              <a:t>, letting an attacker perform repeated actions very quickly.</a:t>
            </a:r>
          </a:p>
          <a:p>
            <a:endParaRPr lang="en-US" sz="1400" dirty="0"/>
          </a:p>
          <a:p>
            <a:r>
              <a:rPr lang="en-US" sz="1400" dirty="0"/>
              <a:t>In simple terms:</a:t>
            </a:r>
          </a:p>
          <a:p>
            <a:endParaRPr lang="en-US" sz="1400" dirty="0"/>
          </a:p>
          <a:p>
            <a:r>
              <a:rPr lang="en-US" sz="1400" dirty="0"/>
              <a:t>👉 The system does </a:t>
            </a:r>
            <a:r>
              <a:rPr lang="en-US" sz="1400" b="1" dirty="0"/>
              <a:t>not stop</a:t>
            </a:r>
            <a:r>
              <a:rPr lang="en-US" sz="1400" dirty="0"/>
              <a:t>, </a:t>
            </a:r>
            <a:r>
              <a:rPr lang="en-US" sz="1400" b="1" dirty="0"/>
              <a:t>slow down</a:t>
            </a:r>
            <a:r>
              <a:rPr lang="en-US" sz="1400" dirty="0"/>
              <a:t>, or </a:t>
            </a:r>
            <a:r>
              <a:rPr lang="en-US" sz="1400" b="1" dirty="0"/>
              <a:t>block</a:t>
            </a:r>
            <a:r>
              <a:rPr lang="en-US" sz="1400" dirty="0"/>
              <a:t> the user even if they send </a:t>
            </a:r>
            <a:r>
              <a:rPr lang="en-US" sz="1400" b="1" dirty="0"/>
              <a:t>100s or 1000s of requests</a:t>
            </a:r>
            <a:r>
              <a:rPr lang="en-US" sz="1400" dirty="0"/>
              <a:t> per second.</a:t>
            </a:r>
          </a:p>
          <a:p>
            <a:endParaRPr lang="en-US" sz="1400" dirty="0"/>
          </a:p>
          <a:p>
            <a:r>
              <a:rPr lang="en-US" sz="1400" b="1" dirty="0"/>
              <a:t>Why This Is Dangerous</a:t>
            </a:r>
          </a:p>
          <a:p>
            <a:endParaRPr lang="en-US" sz="1400" b="1" dirty="0"/>
          </a:p>
          <a:p>
            <a:r>
              <a:rPr lang="en-US" sz="1400" dirty="0"/>
              <a:t>.When rate limiting is missing, attackers can:</a:t>
            </a:r>
          </a:p>
          <a:p>
            <a:r>
              <a:rPr lang="en-US" sz="1400" b="1" dirty="0"/>
              <a:t>1. Brute-force passwords</a:t>
            </a:r>
            <a:endParaRPr lang="en-US" sz="1400" dirty="0"/>
          </a:p>
          <a:p>
            <a:r>
              <a:rPr lang="en-US" sz="1400" b="1" dirty="0"/>
              <a:t>2. Guess OTPs</a:t>
            </a:r>
            <a:r>
              <a:rPr lang="en-US" sz="1400" dirty="0"/>
              <a:t> (6-digit OTP cracked in seconds)</a:t>
            </a:r>
          </a:p>
          <a:p>
            <a:r>
              <a:rPr lang="en-US" sz="1400" b="1" dirty="0"/>
              <a:t>3. Try unlimited login attempts</a:t>
            </a:r>
            <a:endParaRPr lang="en-US" sz="1400" dirty="0"/>
          </a:p>
          <a:p>
            <a:endParaRPr lang="en-US" sz="1400" dirty="0"/>
          </a:p>
          <a:p>
            <a:r>
              <a:rPr lang="en-US" sz="1400" dirty="0"/>
              <a:t>Because there is no restriction, attackers can automate tools like Burp Intruder, Hydra, or scripts to attack continuously.</a:t>
            </a:r>
          </a:p>
          <a:p>
            <a:endParaRPr lang="en-US" sz="1400" dirty="0"/>
          </a:p>
          <a:p>
            <a:r>
              <a:rPr lang="en-US" sz="1400" dirty="0"/>
              <a:t>Demo : https://www.awesomescreenshot.com/video/46689305?key=3ee5c8d088873f292009332ab3882712</a:t>
            </a:r>
          </a:p>
        </p:txBody>
      </p:sp>
    </p:spTree>
    <p:extLst>
      <p:ext uri="{BB962C8B-B14F-4D97-AF65-F5344CB8AC3E}">
        <p14:creationId xmlns:p14="http://schemas.microsoft.com/office/powerpoint/2010/main" val="753632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EADAC-5167-A8F4-CD31-F5C39B920A3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C08B167-B419-69D7-E6ED-B61F2C567DFD}"/>
              </a:ext>
            </a:extLst>
          </p:cNvPr>
          <p:cNvSpPr>
            <a:spLocks noGrp="1"/>
          </p:cNvSpPr>
          <p:nvPr>
            <p:ph idx="11"/>
          </p:nvPr>
        </p:nvSpPr>
        <p:spPr>
          <a:xfrm>
            <a:off x="3667027" y="259385"/>
            <a:ext cx="8399282" cy="6480780"/>
          </a:xfrm>
        </p:spPr>
        <p:txBody>
          <a:bodyPr>
            <a:noAutofit/>
          </a:bodyPr>
          <a:lstStyle/>
          <a:p>
            <a:r>
              <a:rPr lang="en-US" sz="1400" b="1" dirty="0"/>
              <a:t>5. Static Session ID:</a:t>
            </a:r>
          </a:p>
          <a:p>
            <a:endParaRPr lang="en-US" sz="1400" dirty="0"/>
          </a:p>
          <a:p>
            <a:r>
              <a:rPr lang="en-US" sz="1400" dirty="0"/>
              <a:t>A </a:t>
            </a:r>
            <a:r>
              <a:rPr lang="en-US" sz="1400" b="1" dirty="0"/>
              <a:t>Static Session ID Vulnerability</a:t>
            </a:r>
            <a:r>
              <a:rPr lang="en-US" sz="1400" dirty="0"/>
              <a:t> occurs when a website or application gives the </a:t>
            </a:r>
            <a:r>
              <a:rPr lang="en-US" sz="1400" b="1" dirty="0"/>
              <a:t>same session ID every time a user logs in</a:t>
            </a:r>
            <a:r>
              <a:rPr lang="en-US" sz="1400" dirty="0"/>
              <a:t>.</a:t>
            </a:r>
          </a:p>
          <a:p>
            <a:r>
              <a:rPr lang="en-US" sz="1400" dirty="0"/>
              <a:t>This means the session token </a:t>
            </a:r>
            <a:r>
              <a:rPr lang="en-US" sz="1400" b="1" dirty="0"/>
              <a:t>never changes</a:t>
            </a:r>
            <a:r>
              <a:rPr lang="en-US" sz="1400" dirty="0"/>
              <a:t>, even after logout or re-login.</a:t>
            </a:r>
          </a:p>
          <a:p>
            <a:endParaRPr lang="en-US" sz="1400" dirty="0"/>
          </a:p>
          <a:p>
            <a:r>
              <a:rPr lang="en-US" sz="1400" dirty="0"/>
              <a:t>Session IDs are supposed to be </a:t>
            </a:r>
            <a:r>
              <a:rPr lang="en-US" sz="1400" b="1" dirty="0"/>
              <a:t>unique</a:t>
            </a:r>
            <a:r>
              <a:rPr lang="en-US" sz="1400" dirty="0"/>
              <a:t> and </a:t>
            </a:r>
            <a:r>
              <a:rPr lang="en-US" sz="1400" b="1" dirty="0"/>
              <a:t>random</a:t>
            </a:r>
            <a:r>
              <a:rPr lang="en-US" sz="1400" dirty="0"/>
              <a:t> every time to keep accounts secure.</a:t>
            </a:r>
          </a:p>
          <a:p>
            <a:endParaRPr lang="en-US" sz="1400" dirty="0"/>
          </a:p>
          <a:p>
            <a:r>
              <a:rPr lang="en-US" sz="1400" dirty="0"/>
              <a:t>But in this vulnerability, the session ID remains </a:t>
            </a:r>
            <a:r>
              <a:rPr lang="en-US" sz="1400" b="1" dirty="0"/>
              <a:t>constant</a:t>
            </a:r>
            <a:r>
              <a:rPr lang="en-US" sz="1400" dirty="0"/>
              <a:t>, making it predictable.</a:t>
            </a:r>
          </a:p>
          <a:p>
            <a:endParaRPr lang="en-US" sz="1400" dirty="0"/>
          </a:p>
          <a:p>
            <a:r>
              <a:rPr lang="en-US" sz="1400" b="1" dirty="0"/>
              <a:t>Why This Is Dangerous</a:t>
            </a:r>
          </a:p>
          <a:p>
            <a:endParaRPr lang="en-US" sz="1400" b="1" dirty="0"/>
          </a:p>
          <a:p>
            <a:r>
              <a:rPr lang="en-US" sz="1400" dirty="0"/>
              <a:t>If the session ID stays the same:</a:t>
            </a:r>
          </a:p>
          <a:p>
            <a:r>
              <a:rPr lang="en-US" sz="1400" dirty="0"/>
              <a:t>1.Attackers can steal it once and </a:t>
            </a:r>
            <a:r>
              <a:rPr lang="en-US" sz="1400" b="1" dirty="0"/>
              <a:t>reuse it forever</a:t>
            </a:r>
            <a:endParaRPr lang="en-US" sz="1400" dirty="0"/>
          </a:p>
          <a:p>
            <a:r>
              <a:rPr lang="en-US" sz="1400" dirty="0"/>
              <a:t>2.Anyone with the session ID can log in as the victim</a:t>
            </a:r>
          </a:p>
          <a:p>
            <a:r>
              <a:rPr lang="en-US" sz="1400" dirty="0"/>
              <a:t>3.Session hijacking becomes extremely easy</a:t>
            </a:r>
          </a:p>
          <a:p>
            <a:endParaRPr lang="en-US" sz="1400" dirty="0"/>
          </a:p>
          <a:p>
            <a:r>
              <a:rPr lang="en-US" sz="1400" dirty="0"/>
              <a:t>This completely </a:t>
            </a:r>
            <a:r>
              <a:rPr lang="en-US" sz="1400" b="1" dirty="0"/>
              <a:t>breaks user authentication and session security</a:t>
            </a:r>
            <a:r>
              <a:rPr lang="en-US" sz="1400" dirty="0"/>
              <a:t>.</a:t>
            </a:r>
          </a:p>
          <a:p>
            <a:endParaRPr lang="en-US" sz="1400" dirty="0"/>
          </a:p>
          <a:p>
            <a:r>
              <a:rPr lang="en-US" sz="1400" dirty="0"/>
              <a:t>Demo : https://www.awesomescreenshot.com/video/46689363?key=4823583575f8e8946dad652595d4f850</a:t>
            </a:r>
          </a:p>
          <a:p>
            <a:endParaRPr lang="en-US" sz="1400" dirty="0"/>
          </a:p>
          <a:p>
            <a:endParaRPr lang="en-US" sz="1400" dirty="0"/>
          </a:p>
        </p:txBody>
      </p:sp>
    </p:spTree>
    <p:extLst>
      <p:ext uri="{BB962C8B-B14F-4D97-AF65-F5344CB8AC3E}">
        <p14:creationId xmlns:p14="http://schemas.microsoft.com/office/powerpoint/2010/main" val="3146383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A638C-591D-EBB0-E9C3-15BEC02EF7E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D0D7C7B-00EA-15BD-D547-19AB25D46FF4}"/>
              </a:ext>
            </a:extLst>
          </p:cNvPr>
          <p:cNvSpPr>
            <a:spLocks noGrp="1"/>
          </p:cNvSpPr>
          <p:nvPr>
            <p:ph idx="11"/>
          </p:nvPr>
        </p:nvSpPr>
        <p:spPr>
          <a:xfrm>
            <a:off x="3667027" y="259385"/>
            <a:ext cx="8399282" cy="6480780"/>
          </a:xfrm>
        </p:spPr>
        <p:txBody>
          <a:bodyPr>
            <a:noAutofit/>
          </a:bodyPr>
          <a:lstStyle/>
          <a:p>
            <a:r>
              <a:rPr lang="en-US" sz="1400" b="1" dirty="0"/>
              <a:t>6.Reflected Cross-Site Scripting</a:t>
            </a:r>
          </a:p>
          <a:p>
            <a:endParaRPr lang="en-US" sz="1400" b="1" dirty="0"/>
          </a:p>
          <a:p>
            <a:r>
              <a:rPr lang="en-US" sz="1400" dirty="0"/>
              <a:t>Reflected XSS happens when </a:t>
            </a:r>
            <a:r>
              <a:rPr lang="en-US" sz="1400" b="1" dirty="0"/>
              <a:t>user input is immediately returned (“reflected”) in the webpage</a:t>
            </a:r>
            <a:r>
              <a:rPr lang="en-US" sz="1400" dirty="0"/>
              <a:t> without being properly validated or sanitized.</a:t>
            </a:r>
          </a:p>
          <a:p>
            <a:endParaRPr lang="en-US" sz="1400" dirty="0"/>
          </a:p>
          <a:p>
            <a:r>
              <a:rPr lang="en-US" sz="1400" dirty="0"/>
              <a:t>An attacker sends a </a:t>
            </a:r>
            <a:r>
              <a:rPr lang="en-US" sz="1400" b="1" dirty="0"/>
              <a:t>malicious URL</a:t>
            </a:r>
            <a:r>
              <a:rPr lang="en-US" sz="1400" dirty="0"/>
              <a:t> containing JavaScript.</a:t>
            </a:r>
          </a:p>
          <a:p>
            <a:br>
              <a:rPr lang="en-US" sz="1400" dirty="0"/>
            </a:br>
            <a:r>
              <a:rPr lang="en-US" sz="1400" dirty="0"/>
              <a:t>When the victim clicks it, the script </a:t>
            </a:r>
            <a:r>
              <a:rPr lang="en-US" sz="1400" b="1" dirty="0"/>
              <a:t>runs in their browser</a:t>
            </a:r>
            <a:r>
              <a:rPr lang="en-US" sz="1400" dirty="0"/>
              <a:t>.</a:t>
            </a:r>
          </a:p>
          <a:p>
            <a:endParaRPr lang="en-US" sz="1400" b="1" dirty="0"/>
          </a:p>
          <a:p>
            <a:r>
              <a:rPr lang="en-US" sz="1400" b="1" dirty="0"/>
              <a:t>Why It’s Dangerous:</a:t>
            </a:r>
          </a:p>
          <a:p>
            <a:r>
              <a:rPr lang="en-US" sz="1400" dirty="0"/>
              <a:t>With Reflected XSS, an attacker can:</a:t>
            </a:r>
          </a:p>
          <a:p>
            <a:r>
              <a:rPr lang="en-US" sz="1400" dirty="0"/>
              <a:t>1.Steal cookies / session tokens</a:t>
            </a:r>
          </a:p>
          <a:p>
            <a:r>
              <a:rPr lang="en-US" sz="1400" dirty="0"/>
              <a:t>2.Hijack accounts</a:t>
            </a:r>
          </a:p>
          <a:p>
            <a:r>
              <a:rPr lang="en-US" sz="1400" dirty="0"/>
              <a:t>3.Redirect users to fake pages</a:t>
            </a:r>
          </a:p>
          <a:p>
            <a:endParaRPr lang="en-US" sz="1400" b="1" dirty="0"/>
          </a:p>
          <a:p>
            <a:r>
              <a:rPr lang="en-US" sz="1400" b="1" dirty="0"/>
              <a:t>Solution:</a:t>
            </a:r>
          </a:p>
          <a:p>
            <a:r>
              <a:rPr lang="en-US" sz="1400" dirty="0"/>
              <a:t>Use security headers like:</a:t>
            </a:r>
          </a:p>
          <a:p>
            <a:r>
              <a:rPr lang="en-US" sz="1400" dirty="0"/>
              <a:t>1.Content-Security Policy</a:t>
            </a:r>
          </a:p>
          <a:p>
            <a:r>
              <a:rPr lang="en-US" sz="1400" dirty="0"/>
              <a:t>2. X-XSS Protection</a:t>
            </a:r>
          </a:p>
          <a:p>
            <a:endParaRPr lang="en-US" sz="1400" dirty="0"/>
          </a:p>
          <a:p>
            <a:r>
              <a:rPr lang="en-US" sz="1400" dirty="0"/>
              <a:t>Demo : https://www.awesomescreenshot.com/video/46689363?key=4823583575f8e8946dad652595d4f850</a:t>
            </a:r>
          </a:p>
          <a:p>
            <a:endParaRPr lang="en-US" sz="1400" b="1" dirty="0"/>
          </a:p>
        </p:txBody>
      </p:sp>
    </p:spTree>
    <p:extLst>
      <p:ext uri="{BB962C8B-B14F-4D97-AF65-F5344CB8AC3E}">
        <p14:creationId xmlns:p14="http://schemas.microsoft.com/office/powerpoint/2010/main" val="4121473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F1290-36AB-465B-2FDA-5EA58759936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ED0EE75-E5F4-454C-A8B0-A508C176EC23}"/>
              </a:ext>
            </a:extLst>
          </p:cNvPr>
          <p:cNvSpPr>
            <a:spLocks noGrp="1"/>
          </p:cNvSpPr>
          <p:nvPr>
            <p:ph idx="11"/>
          </p:nvPr>
        </p:nvSpPr>
        <p:spPr>
          <a:xfrm>
            <a:off x="3667027" y="259385"/>
            <a:ext cx="8399282" cy="6480780"/>
          </a:xfrm>
        </p:spPr>
        <p:txBody>
          <a:bodyPr>
            <a:noAutofit/>
          </a:bodyPr>
          <a:lstStyle/>
          <a:p>
            <a:r>
              <a:rPr lang="en-US" sz="1400" b="1" dirty="0"/>
              <a:t>7. Click Jacking</a:t>
            </a:r>
          </a:p>
          <a:p>
            <a:endParaRPr lang="en-US" sz="1400" b="1" dirty="0"/>
          </a:p>
          <a:p>
            <a:r>
              <a:rPr lang="en-US" sz="1400" dirty="0"/>
              <a:t>Clickjacking is a vulnerability where an attacker </a:t>
            </a:r>
            <a:r>
              <a:rPr lang="en-US" sz="1400" b="1" dirty="0"/>
              <a:t>tricks a user into clicking something different from what they see</a:t>
            </a:r>
            <a:r>
              <a:rPr lang="en-US" sz="1400" dirty="0"/>
              <a:t>.</a:t>
            </a:r>
          </a:p>
          <a:p>
            <a:br>
              <a:rPr lang="en-US" sz="1400" dirty="0"/>
            </a:br>
            <a:r>
              <a:rPr lang="en-US" sz="1400" dirty="0"/>
              <a:t>This happens when a website can be </a:t>
            </a:r>
            <a:r>
              <a:rPr lang="en-US" sz="1400" b="1" dirty="0"/>
              <a:t>loaded inside an </a:t>
            </a:r>
            <a:r>
              <a:rPr lang="en-US" sz="1400" b="1" dirty="0" err="1"/>
              <a:t>iframe</a:t>
            </a:r>
            <a:r>
              <a:rPr lang="en-US" sz="1400" dirty="0"/>
              <a:t> without protection.</a:t>
            </a:r>
          </a:p>
          <a:p>
            <a:endParaRPr lang="en-US" sz="1400" dirty="0"/>
          </a:p>
          <a:p>
            <a:r>
              <a:rPr lang="en-US" sz="1400" dirty="0"/>
              <a:t>An attacker creates a fake webpage and places the real site in a transparent layer above it.</a:t>
            </a:r>
            <a:br>
              <a:rPr lang="en-US" sz="1400" dirty="0"/>
            </a:br>
            <a:endParaRPr lang="en-US" sz="1400" dirty="0"/>
          </a:p>
          <a:p>
            <a:r>
              <a:rPr lang="en-US" sz="1400" dirty="0"/>
              <a:t>So, the user thinks they are clicking a visible button, but they are actually clicking a hidden button on the real website</a:t>
            </a:r>
          </a:p>
          <a:p>
            <a:endParaRPr lang="en-US" sz="1400" b="1" dirty="0"/>
          </a:p>
          <a:p>
            <a:r>
              <a:rPr lang="en-US" sz="1400" b="1" dirty="0"/>
              <a:t>Why It’s Dangerous</a:t>
            </a:r>
          </a:p>
          <a:p>
            <a:r>
              <a:rPr lang="en-US" sz="1400" dirty="0"/>
              <a:t>Attackers can:</a:t>
            </a:r>
          </a:p>
          <a:p>
            <a:r>
              <a:rPr lang="en-US" sz="1400" dirty="0"/>
              <a:t>1. Trick users into performing unwanted actions</a:t>
            </a:r>
          </a:p>
          <a:p>
            <a:r>
              <a:rPr lang="en-US" sz="1400" dirty="0"/>
              <a:t>2. Hijack clicks</a:t>
            </a:r>
          </a:p>
          <a:p>
            <a:r>
              <a:rPr lang="en-US" sz="1400" dirty="0"/>
              <a:t>3. Change account settings</a:t>
            </a:r>
          </a:p>
          <a:p>
            <a:r>
              <a:rPr lang="en-US" sz="1400" dirty="0"/>
              <a:t>4. Transfer funds</a:t>
            </a:r>
          </a:p>
          <a:p>
            <a:endParaRPr lang="en-US" sz="1400" dirty="0"/>
          </a:p>
          <a:p>
            <a:r>
              <a:rPr lang="en-US" sz="1400" dirty="0"/>
              <a:t>Short:</a:t>
            </a:r>
          </a:p>
          <a:p>
            <a:r>
              <a:rPr lang="en-US" sz="1400" dirty="0"/>
              <a:t>Clickjacking = Attacker hides a real webpage inside an invisible </a:t>
            </a:r>
            <a:r>
              <a:rPr lang="en-US" sz="1400" dirty="0" err="1"/>
              <a:t>iframe</a:t>
            </a:r>
            <a:r>
              <a:rPr lang="en-US" sz="1400" dirty="0"/>
              <a:t> and tricks users into clicking on it.</a:t>
            </a:r>
          </a:p>
          <a:p>
            <a:endParaRPr lang="en-US" sz="1400" b="1" dirty="0"/>
          </a:p>
          <a:p>
            <a:r>
              <a:rPr lang="en-US" sz="1400" b="1" dirty="0"/>
              <a:t>Solutions:</a:t>
            </a:r>
          </a:p>
          <a:p>
            <a:endParaRPr lang="en-US" sz="1400" b="1" dirty="0"/>
          </a:p>
          <a:p>
            <a:r>
              <a:rPr lang="en-US" sz="1400" b="1" dirty="0"/>
              <a:t>X-Frame-Options: DENY</a:t>
            </a:r>
          </a:p>
          <a:p>
            <a:r>
              <a:rPr lang="en-US" sz="1400" b="1" dirty="0"/>
              <a:t>Content-Security-Policy: frame-ancestors 'none';</a:t>
            </a:r>
          </a:p>
          <a:p>
            <a:endParaRPr lang="en-US" sz="1400" b="1" dirty="0"/>
          </a:p>
          <a:p>
            <a:endParaRPr lang="en-US" sz="1400" b="1" dirty="0"/>
          </a:p>
          <a:p>
            <a:r>
              <a:rPr lang="en-US" sz="1400" b="1" dirty="0"/>
              <a:t>Demo : https://www.awesomescreenshot.com/video/46689464?key=7c16525984975d9f4240d09d9cce84f4</a:t>
            </a:r>
          </a:p>
        </p:txBody>
      </p:sp>
    </p:spTree>
    <p:extLst>
      <p:ext uri="{BB962C8B-B14F-4D97-AF65-F5344CB8AC3E}">
        <p14:creationId xmlns:p14="http://schemas.microsoft.com/office/powerpoint/2010/main" val="3851093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D8BF4-AAF1-FA56-FBBE-0260A2831ED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7BE2372-1C59-738B-FBFB-801833E1CFE9}"/>
              </a:ext>
            </a:extLst>
          </p:cNvPr>
          <p:cNvSpPr>
            <a:spLocks noGrp="1"/>
          </p:cNvSpPr>
          <p:nvPr>
            <p:ph idx="11"/>
          </p:nvPr>
        </p:nvSpPr>
        <p:spPr>
          <a:xfrm>
            <a:off x="3667027" y="259385"/>
            <a:ext cx="8399282" cy="6480780"/>
          </a:xfrm>
        </p:spPr>
        <p:txBody>
          <a:bodyPr>
            <a:noAutofit/>
          </a:bodyPr>
          <a:lstStyle/>
          <a:p>
            <a:r>
              <a:rPr lang="en-US" sz="1400" b="1" dirty="0"/>
              <a:t>8. Cleartext Submission of Password</a:t>
            </a:r>
          </a:p>
          <a:p>
            <a:endParaRPr lang="en-US" sz="1400" b="1" dirty="0"/>
          </a:p>
          <a:p>
            <a:r>
              <a:rPr lang="en-US" sz="1400" dirty="0"/>
              <a:t>Cleartext Submission of Password means the application sends the </a:t>
            </a:r>
            <a:r>
              <a:rPr lang="en-US" sz="1400" b="1" dirty="0"/>
              <a:t>username and password without encryption</a:t>
            </a:r>
            <a:r>
              <a:rPr lang="en-US" sz="1400" dirty="0"/>
              <a:t>, usually over </a:t>
            </a:r>
            <a:r>
              <a:rPr lang="en-US" sz="1400" b="1" dirty="0"/>
              <a:t>HTTP instead of HTTPS</a:t>
            </a:r>
            <a:r>
              <a:rPr lang="en-US" sz="1400" dirty="0"/>
              <a:t>.</a:t>
            </a:r>
          </a:p>
          <a:p>
            <a:endParaRPr lang="en-US" sz="1400" dirty="0"/>
          </a:p>
          <a:p>
            <a:r>
              <a:rPr lang="en-US" sz="1400" dirty="0"/>
              <a:t>This means the credentials travel </a:t>
            </a:r>
            <a:r>
              <a:rPr lang="en-US" sz="1400" b="1" dirty="0"/>
              <a:t>in plain text</a:t>
            </a:r>
            <a:r>
              <a:rPr lang="en-US" sz="1400" dirty="0"/>
              <a:t>, and anyone on the network (attacker, Wi-Fi hacker, proxy, ISP, MITM attacker) can </a:t>
            </a:r>
            <a:r>
              <a:rPr lang="en-US" sz="1400" b="1" dirty="0"/>
              <a:t>see, capture, and steal the password</a:t>
            </a:r>
            <a:r>
              <a:rPr lang="en-US" sz="1400" dirty="0"/>
              <a:t> easily.</a:t>
            </a:r>
          </a:p>
          <a:p>
            <a:endParaRPr lang="en-US" sz="1400" b="1" dirty="0"/>
          </a:p>
          <a:p>
            <a:r>
              <a:rPr lang="en-US" sz="1400" b="1" dirty="0"/>
              <a:t>Why It’s Dangerous</a:t>
            </a:r>
          </a:p>
          <a:p>
            <a:r>
              <a:rPr lang="en-US" sz="1400" dirty="0"/>
              <a:t>If passwords are sent in cleartext:</a:t>
            </a:r>
          </a:p>
          <a:p>
            <a:r>
              <a:rPr lang="en-US" sz="1400" dirty="0"/>
              <a:t>1. Attackers can sniff login credentials</a:t>
            </a:r>
          </a:p>
          <a:p>
            <a:r>
              <a:rPr lang="en-US" sz="1400" dirty="0"/>
              <a:t>2. MITM (Man-in-the-Middle) attacks become easy</a:t>
            </a:r>
          </a:p>
          <a:p>
            <a:r>
              <a:rPr lang="en-US" sz="1400" dirty="0"/>
              <a:t>3. Entire accounts can be compromised</a:t>
            </a:r>
          </a:p>
          <a:p>
            <a:endParaRPr lang="en-US" sz="1400" b="1" dirty="0"/>
          </a:p>
          <a:p>
            <a:r>
              <a:rPr lang="en-US" sz="1400" b="1" dirty="0"/>
              <a:t>Short </a:t>
            </a:r>
          </a:p>
          <a:p>
            <a:endParaRPr lang="en-US" sz="1400" b="1" dirty="0"/>
          </a:p>
          <a:p>
            <a:r>
              <a:rPr lang="en-US" sz="1400" dirty="0"/>
              <a:t>Cleartext Submission of Password = Password sent without encryption, allowing attackers to easily steal it.</a:t>
            </a:r>
          </a:p>
          <a:p>
            <a:endParaRPr lang="en-US" sz="1400" b="1" dirty="0"/>
          </a:p>
          <a:p>
            <a:r>
              <a:rPr lang="en-US" sz="1400" b="1" dirty="0"/>
              <a:t>Demo : </a:t>
            </a:r>
          </a:p>
        </p:txBody>
      </p:sp>
    </p:spTree>
    <p:extLst>
      <p:ext uri="{BB962C8B-B14F-4D97-AF65-F5344CB8AC3E}">
        <p14:creationId xmlns:p14="http://schemas.microsoft.com/office/powerpoint/2010/main" val="3448556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E509B-54F8-68D5-B148-7B8B9DDE219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61CAF09-BAEC-BEC6-211A-ACD0138D6F29}"/>
              </a:ext>
            </a:extLst>
          </p:cNvPr>
          <p:cNvSpPr>
            <a:spLocks noGrp="1"/>
          </p:cNvSpPr>
          <p:nvPr>
            <p:ph idx="11"/>
          </p:nvPr>
        </p:nvSpPr>
        <p:spPr>
          <a:xfrm>
            <a:off x="3667027" y="259385"/>
            <a:ext cx="8399282" cy="6480780"/>
          </a:xfrm>
        </p:spPr>
        <p:txBody>
          <a:bodyPr>
            <a:noAutofit/>
          </a:bodyPr>
          <a:lstStyle/>
          <a:p>
            <a:r>
              <a:rPr lang="en-US" sz="1400" b="1" dirty="0"/>
              <a:t>9.</a:t>
            </a:r>
            <a:r>
              <a:rPr lang="en-US" sz="1400" dirty="0"/>
              <a:t> </a:t>
            </a:r>
            <a:r>
              <a:rPr lang="en-US" sz="1400" b="1" dirty="0"/>
              <a:t>Password Field Autocomplete enabled</a:t>
            </a:r>
          </a:p>
          <a:p>
            <a:endParaRPr lang="en-US" sz="1400" b="1" dirty="0"/>
          </a:p>
          <a:p>
            <a:r>
              <a:rPr lang="en-US" sz="1400" dirty="0"/>
              <a:t>This vulnerability occurs when the website allows the browser to </a:t>
            </a:r>
            <a:r>
              <a:rPr lang="en-US" sz="1400" b="1" dirty="0"/>
              <a:t>automatically save and autofill passwords</a:t>
            </a:r>
            <a:r>
              <a:rPr lang="en-US" sz="1400" dirty="0"/>
              <a:t> in the login form. If autocomplete is enabled, anyone who gets access to the user's device (stolen laptop, shared system, unlocked browser) can easily log in without knowing the password.</a:t>
            </a:r>
            <a:br>
              <a:rPr lang="en-US" sz="1400" dirty="0"/>
            </a:br>
            <a:r>
              <a:rPr lang="en-US" sz="1400" dirty="0"/>
              <a:t>It increases the risk of </a:t>
            </a:r>
            <a:r>
              <a:rPr lang="en-US" sz="1400" b="1" dirty="0"/>
              <a:t>account takeover</a:t>
            </a:r>
            <a:r>
              <a:rPr lang="en-US" sz="1400" dirty="0"/>
              <a:t> and is considered </a:t>
            </a:r>
            <a:r>
              <a:rPr lang="en-US" sz="1400" b="1" dirty="0"/>
              <a:t>poor security practice</a:t>
            </a:r>
            <a:r>
              <a:rPr lang="en-US" sz="1400" dirty="0"/>
              <a:t>.</a:t>
            </a:r>
          </a:p>
          <a:p>
            <a:endParaRPr lang="en-US" sz="1400" b="1" dirty="0"/>
          </a:p>
          <a:p>
            <a:r>
              <a:rPr lang="en-US" sz="1400" b="1" dirty="0"/>
              <a:t>&lt;input type="password" autocomplete="off"&gt;</a:t>
            </a:r>
          </a:p>
          <a:p>
            <a:endParaRPr lang="en-US" sz="1400" b="1" dirty="0"/>
          </a:p>
          <a:p>
            <a:endParaRPr lang="en-US" sz="1400" b="1" dirty="0"/>
          </a:p>
          <a:p>
            <a:r>
              <a:rPr lang="en-US" sz="1400" b="1" dirty="0"/>
              <a:t>Demo : https://www.awesomescreenshot.com/video/46689464?key=7c16525984975d9f4240d09d9cce84f4</a:t>
            </a:r>
          </a:p>
        </p:txBody>
      </p:sp>
    </p:spTree>
    <p:extLst>
      <p:ext uri="{BB962C8B-B14F-4D97-AF65-F5344CB8AC3E}">
        <p14:creationId xmlns:p14="http://schemas.microsoft.com/office/powerpoint/2010/main" val="2160802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4933A-E553-8C43-1012-F2768724C22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63A12DF-777E-7807-9A2A-A50A370BC881}"/>
              </a:ext>
            </a:extLst>
          </p:cNvPr>
          <p:cNvSpPr>
            <a:spLocks noGrp="1"/>
          </p:cNvSpPr>
          <p:nvPr>
            <p:ph idx="11"/>
          </p:nvPr>
        </p:nvSpPr>
        <p:spPr>
          <a:xfrm>
            <a:off x="3667027" y="259385"/>
            <a:ext cx="8399282" cy="6480780"/>
          </a:xfrm>
        </p:spPr>
        <p:txBody>
          <a:bodyPr>
            <a:noAutofit/>
          </a:bodyPr>
          <a:lstStyle/>
          <a:p>
            <a:r>
              <a:rPr lang="en-US" sz="1400" b="1" dirty="0"/>
              <a:t>10. Default Credentials (admin/admin)</a:t>
            </a:r>
          </a:p>
          <a:p>
            <a:endParaRPr lang="en-US" sz="1400" b="1" dirty="0"/>
          </a:p>
          <a:p>
            <a:r>
              <a:rPr lang="en-US" sz="1400" dirty="0"/>
              <a:t>This vulnerability occurs when an application uses </a:t>
            </a:r>
            <a:r>
              <a:rPr lang="en-US" sz="1400" b="1" dirty="0"/>
              <a:t>default, factory-set usernames and passwords</a:t>
            </a:r>
            <a:r>
              <a:rPr lang="en-US" sz="1400" dirty="0"/>
              <a:t> like </a:t>
            </a:r>
            <a:r>
              <a:rPr lang="en-US" sz="1400" b="1" dirty="0"/>
              <a:t>admin/admin</a:t>
            </a:r>
            <a:r>
              <a:rPr lang="en-US" sz="1400" dirty="0"/>
              <a:t>, </a:t>
            </a:r>
            <a:r>
              <a:rPr lang="en-US" sz="1400" b="1" dirty="0"/>
              <a:t>root/root</a:t>
            </a:r>
            <a:r>
              <a:rPr lang="en-US" sz="1400" dirty="0"/>
              <a:t>, or </a:t>
            </a:r>
            <a:r>
              <a:rPr lang="en-US" sz="1400" b="1" dirty="0"/>
              <a:t>test/</a:t>
            </a:r>
            <a:r>
              <a:rPr lang="en-US" sz="1400" b="1" dirty="0" err="1"/>
              <a:t>test</a:t>
            </a:r>
            <a:r>
              <a:rPr lang="en-US" sz="1400" dirty="0" err="1"/>
              <a:t>.Attackers</a:t>
            </a:r>
            <a:r>
              <a:rPr lang="en-US" sz="1400" dirty="0"/>
              <a:t> know these common defaults, so they try them first. If the system still accepts these credentials, the attacker can easily </a:t>
            </a:r>
            <a:r>
              <a:rPr lang="en-US" sz="1400" b="1" dirty="0"/>
              <a:t>log in without hacking anything</a:t>
            </a:r>
            <a:r>
              <a:rPr lang="en-US" sz="1400" dirty="0"/>
              <a:t> and gain full access.</a:t>
            </a:r>
          </a:p>
          <a:p>
            <a:endParaRPr lang="en-US" sz="1400" dirty="0"/>
          </a:p>
          <a:p>
            <a:r>
              <a:rPr lang="en-US" sz="1400" dirty="0"/>
              <a:t>This is a </a:t>
            </a:r>
            <a:r>
              <a:rPr lang="en-US" sz="1400" b="1" dirty="0"/>
              <a:t>high-risk vulnerability</a:t>
            </a:r>
            <a:r>
              <a:rPr lang="en-US" sz="1400" dirty="0"/>
              <a:t> because it allows </a:t>
            </a:r>
            <a:r>
              <a:rPr lang="en-US" sz="1400" b="1" dirty="0"/>
              <a:t>complete authentication bypass</a:t>
            </a:r>
            <a:r>
              <a:rPr lang="en-US" sz="1400" dirty="0"/>
              <a:t> with zero effort.</a:t>
            </a:r>
          </a:p>
          <a:p>
            <a:endParaRPr lang="en-US" sz="1400" b="1" dirty="0"/>
          </a:p>
          <a:p>
            <a:r>
              <a:rPr lang="en-US" sz="1400" b="1" dirty="0"/>
              <a:t> Why It Happens</a:t>
            </a:r>
          </a:p>
          <a:p>
            <a:endParaRPr lang="en-US" sz="1400" b="1" dirty="0"/>
          </a:p>
          <a:p>
            <a:pPr marL="285750" indent="-285750">
              <a:buFont typeface="Arial" panose="020B0604020202020204" pitchFamily="34" charset="0"/>
              <a:buChar char="•"/>
            </a:pPr>
            <a:r>
              <a:rPr lang="en-US" sz="1400" dirty="0"/>
              <a:t>Developer forgets to change default login.</a:t>
            </a:r>
          </a:p>
          <a:p>
            <a:pPr marL="285750" indent="-285750">
              <a:buFont typeface="Arial" panose="020B0604020202020204" pitchFamily="34" charset="0"/>
              <a:buChar char="•"/>
            </a:pPr>
            <a:r>
              <a:rPr lang="en-US" sz="1400" dirty="0"/>
              <a:t>Weak security configuration.</a:t>
            </a:r>
          </a:p>
          <a:p>
            <a:pPr marL="285750" indent="-285750">
              <a:buFont typeface="Arial" panose="020B0604020202020204" pitchFamily="34" charset="0"/>
              <a:buChar char="•"/>
            </a:pPr>
            <a:r>
              <a:rPr lang="en-US" sz="1400" dirty="0"/>
              <a:t>No enforced password change on first login.</a:t>
            </a:r>
          </a:p>
          <a:p>
            <a:endParaRPr lang="en-US" sz="1400" b="1" dirty="0"/>
          </a:p>
          <a:p>
            <a:endParaRPr lang="en-US" sz="1400" b="1" dirty="0"/>
          </a:p>
          <a:p>
            <a:r>
              <a:rPr lang="en-US" sz="1400" b="1" dirty="0"/>
              <a:t>Demo : </a:t>
            </a:r>
          </a:p>
        </p:txBody>
      </p:sp>
    </p:spTree>
    <p:extLst>
      <p:ext uri="{BB962C8B-B14F-4D97-AF65-F5344CB8AC3E}">
        <p14:creationId xmlns:p14="http://schemas.microsoft.com/office/powerpoint/2010/main" val="2414740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0BA34-82C5-86BE-F1F8-7E31E2229AA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C63FC06-8FF6-39EF-ED33-C164206E1478}"/>
              </a:ext>
            </a:extLst>
          </p:cNvPr>
          <p:cNvSpPr>
            <a:spLocks noGrp="1"/>
          </p:cNvSpPr>
          <p:nvPr>
            <p:ph idx="11"/>
          </p:nvPr>
        </p:nvSpPr>
        <p:spPr>
          <a:xfrm>
            <a:off x="3667027" y="259385"/>
            <a:ext cx="8399282" cy="6480780"/>
          </a:xfrm>
        </p:spPr>
        <p:txBody>
          <a:bodyPr>
            <a:noAutofit/>
          </a:bodyPr>
          <a:lstStyle/>
          <a:p>
            <a:r>
              <a:rPr lang="en-US" sz="1400" b="1" dirty="0"/>
              <a:t>11. Attribute Injection / HTML Tag Injection</a:t>
            </a:r>
          </a:p>
          <a:p>
            <a:endParaRPr lang="en-US" sz="1400" b="1" dirty="0"/>
          </a:p>
          <a:p>
            <a:r>
              <a:rPr lang="en-US" sz="1400" dirty="0"/>
              <a:t>Attribute Injection (also called </a:t>
            </a:r>
            <a:r>
              <a:rPr lang="en-US" sz="1400" b="1" dirty="0"/>
              <a:t>HTML Tag Injection</a:t>
            </a:r>
            <a:r>
              <a:rPr lang="en-US" sz="1400" dirty="0"/>
              <a:t>) happens when a web application displays user input directly inside </a:t>
            </a:r>
            <a:r>
              <a:rPr lang="en-US" sz="1400" b="1" dirty="0"/>
              <a:t>HTML tags or attributes</a:t>
            </a:r>
            <a:r>
              <a:rPr lang="en-US" sz="1400" dirty="0"/>
              <a:t> without proper validation or sanitization.</a:t>
            </a:r>
          </a:p>
          <a:p>
            <a:br>
              <a:rPr lang="en-US" sz="1400" dirty="0"/>
            </a:br>
            <a:r>
              <a:rPr lang="en-US" sz="1400" dirty="0"/>
              <a:t>An attacker can inject </a:t>
            </a:r>
            <a:r>
              <a:rPr lang="en-US" sz="1400" b="1" dirty="0"/>
              <a:t>malicious HTML attributes or tags</a:t>
            </a:r>
            <a:r>
              <a:rPr lang="en-US" sz="1400" dirty="0"/>
              <a:t> into the page, which changes how the page behaves or looks.</a:t>
            </a:r>
          </a:p>
          <a:p>
            <a:endParaRPr lang="en-US" sz="1400" b="1" dirty="0"/>
          </a:p>
          <a:p>
            <a:r>
              <a:rPr lang="en-US" sz="1400" b="1" dirty="0"/>
              <a:t>Why It’s Dangerous</a:t>
            </a:r>
          </a:p>
          <a:p>
            <a:endParaRPr lang="en-US" sz="1400" b="1" dirty="0"/>
          </a:p>
          <a:p>
            <a:pPr marL="285750" indent="-285750">
              <a:buFont typeface="Arial" panose="020B0604020202020204" pitchFamily="34" charset="0"/>
              <a:buChar char="•"/>
            </a:pPr>
            <a:r>
              <a:rPr lang="en-US" sz="1400" dirty="0"/>
              <a:t>Can lead to </a:t>
            </a:r>
            <a:r>
              <a:rPr lang="en-US" sz="1400" b="1" dirty="0"/>
              <a:t>XSS (Cross-Site Scripting)</a:t>
            </a:r>
            <a:endParaRPr lang="en-US" sz="1400" dirty="0"/>
          </a:p>
          <a:p>
            <a:pPr marL="285750" indent="-285750">
              <a:buFont typeface="Arial" panose="020B0604020202020204" pitchFamily="34" charset="0"/>
              <a:buChar char="•"/>
            </a:pPr>
            <a:r>
              <a:rPr lang="en-US" sz="1400" dirty="0"/>
              <a:t>Stealing cookies or session tokens</a:t>
            </a:r>
          </a:p>
          <a:p>
            <a:pPr marL="285750" indent="-285750">
              <a:buFont typeface="Arial" panose="020B0604020202020204" pitchFamily="34" charset="0"/>
              <a:buChar char="•"/>
            </a:pPr>
            <a:r>
              <a:rPr lang="en-US" sz="1400" dirty="0"/>
              <a:t>Altering webpage structure</a:t>
            </a:r>
          </a:p>
          <a:p>
            <a:pPr marL="285750" indent="-285750">
              <a:buFont typeface="Arial" panose="020B0604020202020204" pitchFamily="34" charset="0"/>
              <a:buChar char="•"/>
            </a:pPr>
            <a:r>
              <a:rPr lang="en-US" sz="1400" dirty="0"/>
              <a:t>Phishing / UI manipulation</a:t>
            </a:r>
          </a:p>
          <a:p>
            <a:endParaRPr lang="en-US" sz="1400" b="1" dirty="0"/>
          </a:p>
          <a:p>
            <a:endParaRPr lang="en-US" sz="1400" b="1" dirty="0"/>
          </a:p>
          <a:p>
            <a:r>
              <a:rPr lang="en-US" sz="1400" b="1" dirty="0"/>
              <a:t>Demo : https://www.awesomescreenshot.com/video/46689518?key=1785de400f55a9901e11fd9003177edc</a:t>
            </a:r>
          </a:p>
        </p:txBody>
      </p:sp>
    </p:spTree>
    <p:extLst>
      <p:ext uri="{BB962C8B-B14F-4D97-AF65-F5344CB8AC3E}">
        <p14:creationId xmlns:p14="http://schemas.microsoft.com/office/powerpoint/2010/main" val="1203878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055DD-462B-B738-485E-E324D61260C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882A47A-8621-654A-01C2-89B745BB9C23}"/>
              </a:ext>
            </a:extLst>
          </p:cNvPr>
          <p:cNvSpPr>
            <a:spLocks noGrp="1"/>
          </p:cNvSpPr>
          <p:nvPr>
            <p:ph idx="11"/>
          </p:nvPr>
        </p:nvSpPr>
        <p:spPr>
          <a:xfrm>
            <a:off x="3667027" y="259385"/>
            <a:ext cx="8399282" cy="6480780"/>
          </a:xfrm>
        </p:spPr>
        <p:txBody>
          <a:bodyPr>
            <a:noAutofit/>
          </a:bodyPr>
          <a:lstStyle/>
          <a:p>
            <a:r>
              <a:rPr lang="en-US" sz="1400" b="1" dirty="0"/>
              <a:t>12. Insecure Direct Object Reference (IDOR)</a:t>
            </a:r>
          </a:p>
          <a:p>
            <a:endParaRPr lang="en-US" sz="1400" b="1" dirty="0"/>
          </a:p>
          <a:p>
            <a:r>
              <a:rPr lang="en-US" sz="1400" dirty="0"/>
              <a:t>IDOR is a vulnerability where an application exposes </a:t>
            </a:r>
            <a:r>
              <a:rPr lang="en-US" sz="1400" b="1" dirty="0"/>
              <a:t>direct access to internal objects</a:t>
            </a:r>
            <a:r>
              <a:rPr lang="en-US" sz="1400" dirty="0"/>
              <a:t> such as user IDs, account numbers, file names, or database records </a:t>
            </a:r>
            <a:r>
              <a:rPr lang="en-US" sz="1400" b="1" dirty="0"/>
              <a:t>without proper authorization checks</a:t>
            </a:r>
            <a:r>
              <a:rPr lang="en-US" sz="1400" dirty="0"/>
              <a:t>.</a:t>
            </a:r>
            <a:br>
              <a:rPr lang="en-US" sz="1400" dirty="0"/>
            </a:br>
            <a:endParaRPr lang="en-US" sz="1400" dirty="0"/>
          </a:p>
          <a:p>
            <a:r>
              <a:rPr lang="en-US" sz="1400" dirty="0"/>
              <a:t>This allows an attacker to change a parameter in the URL or request and access </a:t>
            </a:r>
            <a:r>
              <a:rPr lang="en-US" sz="1400" b="1" dirty="0"/>
              <a:t>someone else’s data</a:t>
            </a:r>
            <a:r>
              <a:rPr lang="en-US" sz="1400" dirty="0"/>
              <a:t>.</a:t>
            </a:r>
          </a:p>
          <a:p>
            <a:endParaRPr lang="en-US" sz="1400" b="1" dirty="0"/>
          </a:p>
          <a:p>
            <a:r>
              <a:rPr lang="en-US" sz="1400" b="1" dirty="0"/>
              <a:t>https://example.com/user/profile?id=1001</a:t>
            </a:r>
          </a:p>
          <a:p>
            <a:endParaRPr lang="en-US" sz="1400" b="1" dirty="0"/>
          </a:p>
          <a:p>
            <a:r>
              <a:rPr lang="en-US" sz="1400" dirty="0"/>
              <a:t>If an attacker changes it to:</a:t>
            </a:r>
          </a:p>
          <a:p>
            <a:endParaRPr lang="en-US" sz="1400" b="1" dirty="0"/>
          </a:p>
          <a:p>
            <a:r>
              <a:rPr lang="en-US" sz="1400" b="1" dirty="0"/>
              <a:t>?id=1002</a:t>
            </a:r>
          </a:p>
          <a:p>
            <a:endParaRPr lang="en-US" sz="1400" b="1" dirty="0"/>
          </a:p>
          <a:p>
            <a:r>
              <a:rPr lang="en-US" sz="1400" dirty="0"/>
              <a:t>And the application shows another user’s profile → </a:t>
            </a:r>
            <a:r>
              <a:rPr lang="en-US" sz="1400" b="1" dirty="0"/>
              <a:t>IDOR vulnerability</a:t>
            </a:r>
            <a:r>
              <a:rPr lang="en-US" sz="1400" dirty="0"/>
              <a:t>.</a:t>
            </a:r>
          </a:p>
          <a:p>
            <a:endParaRPr lang="en-US" sz="1400" dirty="0"/>
          </a:p>
          <a:p>
            <a:r>
              <a:rPr lang="en-US" sz="1400" b="1" dirty="0"/>
              <a:t>Why It’s Dangerous</a:t>
            </a:r>
          </a:p>
          <a:p>
            <a:endParaRPr lang="en-US" sz="1400" b="1" dirty="0"/>
          </a:p>
          <a:p>
            <a:pPr marL="285750" indent="-285750">
              <a:buFont typeface="Arial" panose="020B0604020202020204" pitchFamily="34" charset="0"/>
              <a:buChar char="•"/>
            </a:pPr>
            <a:r>
              <a:rPr lang="en-US" sz="1400" dirty="0"/>
              <a:t>Attackers can access or modify </a:t>
            </a:r>
            <a:r>
              <a:rPr lang="en-US" sz="1400" b="1" dirty="0"/>
              <a:t>other users’ data</a:t>
            </a:r>
            <a:endParaRPr lang="en-US" sz="1400" dirty="0"/>
          </a:p>
          <a:p>
            <a:pPr marL="285750" indent="-285750">
              <a:buFont typeface="Arial" panose="020B0604020202020204" pitchFamily="34" charset="0"/>
              <a:buChar char="•"/>
            </a:pPr>
            <a:r>
              <a:rPr lang="en-US" sz="1400" dirty="0"/>
              <a:t>Can lead to </a:t>
            </a:r>
            <a:r>
              <a:rPr lang="en-US" sz="1400" b="1" dirty="0"/>
              <a:t>account takeover</a:t>
            </a:r>
            <a:endParaRPr lang="en-US" sz="1400" dirty="0"/>
          </a:p>
          <a:p>
            <a:pPr marL="285750" indent="-285750">
              <a:buFont typeface="Arial" panose="020B0604020202020204" pitchFamily="34" charset="0"/>
              <a:buChar char="•"/>
            </a:pPr>
            <a:r>
              <a:rPr lang="en-US" sz="1400" dirty="0"/>
              <a:t>Unauthorized transactions</a:t>
            </a:r>
          </a:p>
          <a:p>
            <a:endParaRPr lang="en-US" sz="1400" dirty="0"/>
          </a:p>
          <a:p>
            <a:endParaRPr lang="en-US" sz="1400" b="1" dirty="0"/>
          </a:p>
          <a:p>
            <a:r>
              <a:rPr lang="en-US" sz="1400" b="1" dirty="0"/>
              <a:t>Demo : https://www.awesomescreenshot.com/video/46689540?key=2be8f9cc773426c3303989a148747e8f</a:t>
            </a:r>
          </a:p>
        </p:txBody>
      </p:sp>
    </p:spTree>
    <p:extLst>
      <p:ext uri="{BB962C8B-B14F-4D97-AF65-F5344CB8AC3E}">
        <p14:creationId xmlns:p14="http://schemas.microsoft.com/office/powerpoint/2010/main" val="1890627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1140643"/>
            <a:ext cx="4487158" cy="461914"/>
          </a:xfrm>
        </p:spPr>
        <p:txBody>
          <a:bodyPr/>
          <a:lstStyle/>
          <a:p>
            <a:r>
              <a:rPr lang="en-US" sz="2800" dirty="0"/>
              <a:t>CONCLUSION</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1899964"/>
            <a:ext cx="6249970" cy="2455220"/>
          </a:xfrm>
        </p:spPr>
        <p:txBody>
          <a:bodyPr>
            <a:normAutofit fontScale="70000" lnSpcReduction="20000"/>
          </a:bodyPr>
          <a:lstStyle/>
          <a:p>
            <a:r>
              <a:rPr lang="en-US" dirty="0"/>
              <a:t>In this VAPT on </a:t>
            </a:r>
            <a:r>
              <a:rPr lang="en-US" b="1" dirty="0"/>
              <a:t>Demo.testfire.net</a:t>
            </a:r>
            <a:r>
              <a:rPr lang="en-US" dirty="0"/>
              <a:t>, we identified several security weaknesses including authentication flaws, input validation issues, session vulnerabilities, and access control gaps. These issues highlight how attackers can exploit insecure implementations to gain unauthorized access or compromise user data.</a:t>
            </a:r>
          </a:p>
          <a:p>
            <a:endParaRPr lang="en-US" dirty="0"/>
          </a:p>
          <a:p>
            <a:r>
              <a:rPr lang="en-US" dirty="0"/>
              <a:t>By fixing these vulnerabilities and applying recommended security best practices, the overall security posture of the application can be significantly improved. Regular security testing and continuous monitoring are essential to keep the application safe and reliable.</a:t>
            </a:r>
          </a:p>
          <a:p>
            <a:endParaRPr lang="en-US" dirty="0"/>
          </a:p>
        </p:txBody>
      </p:sp>
    </p:spTree>
    <p:extLst>
      <p:ext uri="{BB962C8B-B14F-4D97-AF65-F5344CB8AC3E}">
        <p14:creationId xmlns:p14="http://schemas.microsoft.com/office/powerpoint/2010/main" val="1973173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861A6-A1B5-94A5-F732-BCB5D6143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56650-7058-D880-D1F1-B2E1000C5E89}"/>
              </a:ext>
            </a:extLst>
          </p:cNvPr>
          <p:cNvSpPr>
            <a:spLocks noGrp="1"/>
          </p:cNvSpPr>
          <p:nvPr>
            <p:ph type="ctrTitle"/>
          </p:nvPr>
        </p:nvSpPr>
        <p:spPr>
          <a:xfrm>
            <a:off x="1725106" y="2919952"/>
            <a:ext cx="4751108" cy="707011"/>
          </a:xfrm>
        </p:spPr>
        <p:txBody>
          <a:bodyPr/>
          <a:lstStyle/>
          <a:p>
            <a:pPr algn="ctr"/>
            <a:r>
              <a:rPr lang="en-US" sz="5000" dirty="0"/>
              <a:t>Thank you </a:t>
            </a:r>
          </a:p>
        </p:txBody>
      </p:sp>
    </p:spTree>
    <p:extLst>
      <p:ext uri="{BB962C8B-B14F-4D97-AF65-F5344CB8AC3E}">
        <p14:creationId xmlns:p14="http://schemas.microsoft.com/office/powerpoint/2010/main" val="3273640788"/>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{2B96E980-4FBD-4658-A525-35F9311D7A1C}TF8a9b5915-b8c7-461e-8cdd-693d48b5e32371f7b7e2_win32-4bf0b9a2ea37</Template>
  <TotalTime>84</TotalTime>
  <Words>1856</Words>
  <Application>Microsoft Office PowerPoint</Application>
  <PresentationFormat>Widescreen</PresentationFormat>
  <Paragraphs>260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Black</vt:lpstr>
      <vt:lpstr>Calibri</vt:lpstr>
      <vt:lpstr>Sabon Next LT</vt:lpstr>
      <vt:lpstr>Custom</vt:lpstr>
      <vt:lpstr>GROUP 2 VAPT  REPORT</vt:lpstr>
      <vt:lpstr>agenda</vt:lpstr>
      <vt:lpstr>Purpose of assessment</vt:lpstr>
      <vt:lpstr>PowerPoint Presentation</vt:lpstr>
      <vt:lpstr>Scope of WORK</vt:lpstr>
      <vt:lpstr>Findings &amp; Vulnerabilities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Asharafraza Desai</dc:creator>
  <cp:lastModifiedBy>Asharafraza Desai</cp:lastModifiedBy>
  <cp:revision>48</cp:revision>
  <dcterms:created xsi:type="dcterms:W3CDTF">2025-11-22T04:26:14Z</dcterms:created>
  <dcterms:modified xsi:type="dcterms:W3CDTF">2025-11-25T06:11:17Z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